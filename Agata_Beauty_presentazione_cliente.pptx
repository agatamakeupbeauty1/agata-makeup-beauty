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1999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jpg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_1.jp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B1D">
              <a:alpha val="4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FFFAF7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685800" y="566928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100" b="1">
                <a:solidFill>
                  <a:srgbClr val="FFFFFF"/>
                </a:solidFill>
                <a:latin typeface="Inter"/>
              </a:rPr>
              <a:t>AGATA BEAUTY</a:t>
            </a:r>
            <a:endParaRPr lang="it-IT" sz="1100"/>
          </a:p>
        </p:txBody>
      </p:sp>
      <p:sp>
        <p:nvSpPr>
          <p:cNvPr id="6" name="Text 6"/>
          <p:cNvSpPr txBox="1"/>
          <p:nvPr/>
        </p:nvSpPr>
        <p:spPr>
          <a:xfrm>
            <a:off x="658368" y="1417320"/>
            <a:ext cx="649224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5000" b="1">
                <a:solidFill>
                  <a:srgbClr val="FFFFFF"/>
                </a:solidFill>
                <a:latin typeface="Playfair Display"/>
              </a:rPr>
              <a:t>Il sito è una prima impressione.</a:t>
            </a:r>
            <a:endParaRPr lang="it-IT" sz="5000"/>
          </a:p>
        </p:txBody>
      </p:sp>
      <p:sp>
        <p:nvSpPr>
          <p:cNvPr id="8" name="Text 8"/>
          <p:cNvSpPr txBox="1"/>
          <p:nvPr/>
        </p:nvSpPr>
        <p:spPr>
          <a:xfrm>
            <a:off x="713232" y="3419856"/>
            <a:ext cx="52578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900">
                <a:solidFill>
                  <a:srgbClr val="F5EDEA"/>
                </a:solidFill>
                <a:latin typeface="Inter"/>
              </a:rPr>
              <a:t>Elegante, diretto, fotografico. Pensato per far percepire valore prima ancora della richiesta di disponibilità.</a:t>
            </a:r>
            <a:endParaRPr lang="it-IT" sz="1900"/>
          </a:p>
        </p:txBody>
      </p:sp>
      <p:sp>
        <p:nvSpPr>
          <p:cNvPr id="9" name="Round 9"/>
          <p:cNvSpPr/>
          <p:nvPr/>
        </p:nvSpPr>
        <p:spPr>
          <a:xfrm>
            <a:off x="731520" y="4709160"/>
            <a:ext cx="2148840" cy="402336"/>
          </a:xfrm>
          <a:prstGeom prst="roundRect">
            <a:avLst/>
          </a:prstGeom>
          <a:solidFill>
            <a:srgbClr val="00844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731520" y="4796028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000" b="1">
                <a:solidFill>
                  <a:srgbClr val="FFFFFF"/>
                </a:solidFill>
                <a:latin typeface="Inter"/>
              </a:rPr>
              <a:t>WEBSITE REVEAL</a:t>
            </a:r>
            <a:endParaRPr lang="it-IT" sz="100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12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24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5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5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6692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4000" b="1">
                <a:solidFill>
                  <a:srgbClr val="211B1D"/>
                </a:solidFill>
                <a:latin typeface="Playfair Display"/>
              </a:rPr>
              <a:t>Cosa deve sentire la cliente</a:t>
            </a:r>
            <a:endParaRPr lang="it-IT" sz="4000"/>
          </a:p>
        </p:txBody>
      </p:sp>
      <p:sp>
        <p:nvSpPr>
          <p:cNvPr id="3" name="Text 3"/>
          <p:cNvSpPr txBox="1"/>
          <p:nvPr/>
        </p:nvSpPr>
        <p:spPr>
          <a:xfrm>
            <a:off x="713232" y="141732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800">
                <a:solidFill>
                  <a:srgbClr val="6F6568"/>
                </a:solidFill>
                <a:latin typeface="Inter"/>
              </a:rPr>
              <a:t>Non “sto guardando un sito”. Ma: “questa persona sa prendersi cura della mia immagine”.</a:t>
            </a:r>
            <a:endParaRPr lang="it-IT" sz="1800"/>
          </a:p>
        </p:txBody>
      </p:sp>
      <p:sp>
        <p:nvSpPr>
          <p:cNvPr id="4" name="Shape 4"/>
          <p:cNvSpPr/>
          <p:nvPr/>
        </p:nvSpPr>
        <p:spPr>
          <a:xfrm>
            <a:off x="749808" y="2450592"/>
            <a:ext cx="33375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1E4DF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987552" y="27432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2500" b="1">
                <a:solidFill>
                  <a:srgbClr val="211B1D"/>
                </a:solidFill>
                <a:latin typeface="Playfair Display"/>
              </a:rPr>
              <a:t>Fiducia</a:t>
            </a:r>
            <a:endParaRPr lang="it-IT" sz="2500"/>
          </a:p>
        </p:txBody>
      </p:sp>
      <p:sp>
        <p:nvSpPr>
          <p:cNvPr id="6" name="Text 6"/>
          <p:cNvSpPr txBox="1"/>
          <p:nvPr/>
        </p:nvSpPr>
        <p:spPr>
          <a:xfrm>
            <a:off x="987552" y="3346704"/>
            <a:ext cx="26060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400">
                <a:solidFill>
                  <a:srgbClr val="6F6568"/>
                </a:solidFill>
                <a:latin typeface="Inter"/>
              </a:rPr>
              <a:t>Tono calmo, raffinato e rassicurante: perfetto per spose ed eventi importanti.</a:t>
            </a:r>
            <a:endParaRPr lang="it-IT" sz="1400"/>
          </a:p>
        </p:txBody>
      </p:sp>
      <p:sp>
        <p:nvSpPr>
          <p:cNvPr id="8" name="Shape 8"/>
          <p:cNvSpPr/>
          <p:nvPr/>
        </p:nvSpPr>
        <p:spPr>
          <a:xfrm>
            <a:off x="4434840" y="2450592"/>
            <a:ext cx="33375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1E4DF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4672584" y="27432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2500" b="1">
                <a:solidFill>
                  <a:srgbClr val="211B1D"/>
                </a:solidFill>
                <a:latin typeface="Playfair Display"/>
              </a:rPr>
              <a:t>Desiderio</a:t>
            </a:r>
            <a:endParaRPr lang="it-IT" sz="2500"/>
          </a:p>
        </p:txBody>
      </p:sp>
      <p:sp>
        <p:nvSpPr>
          <p:cNvPr id="10" name="Text 10"/>
          <p:cNvSpPr txBox="1"/>
          <p:nvPr/>
        </p:nvSpPr>
        <p:spPr>
          <a:xfrm>
            <a:off x="4672584" y="3346704"/>
            <a:ext cx="26060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400">
                <a:solidFill>
                  <a:srgbClr val="6F6568"/>
                </a:solidFill>
                <a:latin typeface="Inter"/>
              </a:rPr>
              <a:t>Immagini, palette e parole costruiscono un mood beauty premium.</a:t>
            </a:r>
            <a:endParaRPr lang="it-IT" sz="1400"/>
          </a:p>
        </p:txBody>
      </p:sp>
      <p:sp>
        <p:nvSpPr>
          <p:cNvPr id="12" name="Shape 12"/>
          <p:cNvSpPr/>
          <p:nvPr/>
        </p:nvSpPr>
        <p:spPr>
          <a:xfrm>
            <a:off x="8119872" y="2450592"/>
            <a:ext cx="33375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1E4DF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8357616" y="27432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2500" b="1">
                <a:solidFill>
                  <a:srgbClr val="211B1D"/>
                </a:solidFill>
                <a:latin typeface="Playfair Display"/>
              </a:rPr>
              <a:t>Azione</a:t>
            </a:r>
            <a:endParaRPr lang="it-IT" sz="2500"/>
          </a:p>
        </p:txBody>
      </p:sp>
      <p:sp>
        <p:nvSpPr>
          <p:cNvPr id="14" name="Text 14"/>
          <p:cNvSpPr txBox="1"/>
          <p:nvPr/>
        </p:nvSpPr>
        <p:spPr>
          <a:xfrm>
            <a:off x="8357616" y="3346704"/>
            <a:ext cx="26060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400">
                <a:solidFill>
                  <a:srgbClr val="6F6568"/>
                </a:solidFill>
                <a:latin typeface="Inter"/>
              </a:rPr>
              <a:t>CTA visibili e percorso semplice verso contatto e prenotazione.</a:t>
            </a:r>
            <a:endParaRPr lang="it-IT" sz="140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12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24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5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5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/>
      <p:bldP spid="4" grpId="0"/>
      <p:bldP spid="8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B1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immagine_1.jpg"/>
          <p:cNvPicPr/>
          <p:nvPr/>
        </p:nvPicPr>
        <p:blipFill>
          <a:blip r:embed="rId1"/>
          <a:stretch>
            <a:fillRect/>
          </a:stretch>
        </p:blipFill>
        <p:spPr>
          <a:xfrm>
            <a:off x="7269480" y="438912"/>
            <a:ext cx="4315968" cy="5980176"/>
          </a:xfrm>
          <a:prstGeom prst="rect">
            <a:avLst/>
          </a:prstGeom>
        </p:spPr>
      </p:pic>
      <p:sp>
        <p:nvSpPr>
          <p:cNvPr id="4" name="Shape 4"/>
          <p:cNvSpPr/>
          <p:nvPr/>
        </p:nvSpPr>
        <p:spPr>
          <a:xfrm>
            <a:off x="7269480" y="438912"/>
            <a:ext cx="4315968" cy="5980176"/>
          </a:xfrm>
          <a:prstGeom prst="rect">
            <a:avLst/>
          </a:prstGeom>
          <a:solidFill>
            <a:srgbClr val="211B1D">
              <a:alpha val="2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685800" y="749808"/>
            <a:ext cx="539496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4200" b="1">
                <a:solidFill>
                  <a:srgbClr val="FFFFFF"/>
                </a:solidFill>
                <a:latin typeface="Playfair Display"/>
              </a:rPr>
              <a:t>Il mood è già posizionamento.</a:t>
            </a:r>
            <a:endParaRPr lang="it-IT" sz="4200"/>
          </a:p>
        </p:txBody>
      </p:sp>
      <p:sp>
        <p:nvSpPr>
          <p:cNvPr id="6" name="Text 6"/>
          <p:cNvSpPr txBox="1"/>
          <p:nvPr/>
        </p:nvSpPr>
        <p:spPr>
          <a:xfrm>
            <a:off x="713232" y="2121408"/>
            <a:ext cx="530352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800">
                <a:solidFill>
                  <a:srgbClr val="E9DCDA"/>
                </a:solidFill>
                <a:latin typeface="Inter"/>
              </a:rPr>
              <a:t>La direzione visiva evita l’effetto template e porta il sito nel territorio bridal/beauty editoriale.</a:t>
            </a:r>
            <a:endParaRPr lang="it-IT" sz="1800"/>
          </a:p>
        </p:txBody>
      </p:sp>
      <p:sp>
        <p:nvSpPr>
          <p:cNvPr id="10" name="Round 10"/>
          <p:cNvSpPr/>
          <p:nvPr/>
        </p:nvSpPr>
        <p:spPr>
          <a:xfrm>
            <a:off x="749808" y="3657600"/>
            <a:ext cx="1417320" cy="402336"/>
          </a:xfrm>
          <a:prstGeom prst="roundRect">
            <a:avLst/>
          </a:prstGeom>
          <a:solidFill>
            <a:srgbClr val="C889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749808" y="3744468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000" b="1">
                <a:solidFill>
                  <a:srgbClr val="FFFFFF"/>
                </a:solidFill>
                <a:latin typeface="Inter"/>
              </a:rPr>
              <a:t>SOFT GLAM</a:t>
            </a:r>
            <a:endParaRPr lang="it-IT" sz="1000"/>
          </a:p>
        </p:txBody>
      </p:sp>
      <p:sp>
        <p:nvSpPr>
          <p:cNvPr id="12" name="Round 12"/>
          <p:cNvSpPr/>
          <p:nvPr/>
        </p:nvSpPr>
        <p:spPr>
          <a:xfrm>
            <a:off x="2359152" y="3657600"/>
            <a:ext cx="1627632" cy="402336"/>
          </a:xfrm>
          <a:prstGeom prst="roundRect">
            <a:avLst/>
          </a:prstGeom>
          <a:solidFill>
            <a:srgbClr val="9D5D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2359152" y="3744468"/>
            <a:ext cx="162763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000" b="1">
                <a:solidFill>
                  <a:srgbClr val="FFFFFF"/>
                </a:solidFill>
                <a:latin typeface="Inter"/>
              </a:rPr>
              <a:t>BRIDAL</a:t>
            </a:r>
            <a:endParaRPr lang="it-IT" sz="1000"/>
          </a:p>
        </p:txBody>
      </p:sp>
      <p:sp>
        <p:nvSpPr>
          <p:cNvPr id="14" name="Round 14"/>
          <p:cNvSpPr/>
          <p:nvPr/>
        </p:nvSpPr>
        <p:spPr>
          <a:xfrm>
            <a:off x="4169663" y="3657600"/>
            <a:ext cx="1554480" cy="402336"/>
          </a:xfrm>
          <a:prstGeom prst="roundRect">
            <a:avLst/>
          </a:prstGeom>
          <a:solidFill>
            <a:srgbClr val="7F8B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4169663" y="374446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000" b="1">
                <a:solidFill>
                  <a:srgbClr val="FFFFFF"/>
                </a:solidFill>
                <a:latin typeface="Inter"/>
              </a:rPr>
              <a:t>EDITORIAL</a:t>
            </a:r>
            <a:endParaRPr lang="it-IT" sz="1000"/>
          </a:p>
        </p:txBody>
      </p:sp>
      <p:sp>
        <p:nvSpPr>
          <p:cNvPr id="15" name="Text 15"/>
          <p:cNvSpPr txBox="1"/>
          <p:nvPr/>
        </p:nvSpPr>
        <p:spPr>
          <a:xfrm>
            <a:off x="749808" y="4700016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800">
                <a:solidFill>
                  <a:srgbClr val="FFFFFF"/>
                </a:solidFill>
                <a:latin typeface="Inter"/>
              </a:rPr>
              <a:t>Risultato: un’identità calda, femminile e sicura, senza sembrare artificiale.</a:t>
            </a:r>
            <a:endParaRPr lang="it-IT" sz="180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12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24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5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5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/>
      <p:bldP spid="5" grpId="0"/>
      <p:bldP spid="10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66928"/>
            <a:ext cx="704088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4000" b="1">
                <a:solidFill>
                  <a:srgbClr val="211B1D"/>
                </a:solidFill>
                <a:latin typeface="Playfair Display"/>
              </a:rPr>
              <a:t>Homepage: impatto e percorso</a:t>
            </a:r>
            <a:endParaRPr lang="it-IT" sz="4000"/>
          </a:p>
        </p:txBody>
      </p:sp>
      <p:sp>
        <p:nvSpPr>
          <p:cNvPr id="4" name="Round 4"/>
          <p:cNvSpPr/>
          <p:nvPr/>
        </p:nvSpPr>
        <p:spPr>
          <a:xfrm>
            <a:off x="777240" y="1691640"/>
            <a:ext cx="49834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E4DF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777240" y="1691640"/>
            <a:ext cx="4983480" cy="493776"/>
          </a:xfrm>
          <a:prstGeom prst="rect">
            <a:avLst/>
          </a:prstGeom>
          <a:solidFill>
            <a:srgbClr val="211B1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996695" y="1874520"/>
            <a:ext cx="118872" cy="118872"/>
          </a:xfrm>
          <a:prstGeom prst="rect">
            <a:avLst/>
          </a:prstGeom>
          <a:solidFill>
            <a:srgbClr val="C889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197864" y="1874520"/>
            <a:ext cx="118872" cy="118872"/>
          </a:xfrm>
          <a:prstGeom prst="rect">
            <a:avLst/>
          </a:prstGeom>
          <a:solidFill>
            <a:srgbClr val="B27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399032" y="1874520"/>
            <a:ext cx="118872" cy="118872"/>
          </a:xfrm>
          <a:prstGeom prst="rect">
            <a:avLst/>
          </a:prstGeom>
          <a:solidFill>
            <a:srgbClr val="7F8B7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188720" y="2606040"/>
            <a:ext cx="41605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2800" b="1">
                <a:solidFill>
                  <a:srgbClr val="211B1D"/>
                </a:solidFill>
                <a:latin typeface="Playfair Display"/>
              </a:rPr>
              <a:t>Makeup elegante, pelle vera, presenza memorabile.</a:t>
            </a:r>
            <a:endParaRPr lang="it-IT" sz="2800"/>
          </a:p>
        </p:txBody>
      </p:sp>
      <p:sp>
        <p:nvSpPr>
          <p:cNvPr id="10" name="Text 10"/>
          <p:cNvSpPr txBox="1"/>
          <p:nvPr/>
        </p:nvSpPr>
        <p:spPr>
          <a:xfrm>
            <a:off x="1463040" y="3474720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300">
                <a:solidFill>
                  <a:srgbClr val="6F6568"/>
                </a:solidFill>
                <a:latin typeface="Inter"/>
              </a:rPr>
              <a:t>Il messaggio principale arriva subito: bellezza naturale, durata e resa fotografica.</a:t>
            </a:r>
            <a:endParaRPr lang="it-IT" sz="1300"/>
          </a:p>
        </p:txBody>
      </p:sp>
      <p:sp>
        <p:nvSpPr>
          <p:cNvPr id="11" name="Round 11"/>
          <p:cNvSpPr/>
          <p:nvPr/>
        </p:nvSpPr>
        <p:spPr>
          <a:xfrm>
            <a:off x="2263140" y="4800600"/>
            <a:ext cx="2011680" cy="402336"/>
          </a:xfrm>
          <a:prstGeom prst="roundRect">
            <a:avLst/>
          </a:prstGeom>
          <a:solidFill>
            <a:srgbClr val="211B1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2263140" y="48874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000" b="1">
                <a:solidFill>
                  <a:srgbClr val="FFFFFF"/>
                </a:solidFill>
                <a:latin typeface="Inter"/>
              </a:rPr>
              <a:t>PRENOTA ORA</a:t>
            </a:r>
            <a:endParaRPr lang="it-IT" sz="1000"/>
          </a:p>
        </p:txBody>
      </p:sp>
      <p:sp>
        <p:nvSpPr>
          <p:cNvPr id="13" name="Shape 13"/>
          <p:cNvSpPr/>
          <p:nvPr/>
        </p:nvSpPr>
        <p:spPr>
          <a:xfrm>
            <a:off x="6446520" y="1783080"/>
            <a:ext cx="73152" cy="3840480"/>
          </a:xfrm>
          <a:prstGeom prst="rect">
            <a:avLst/>
          </a:prstGeom>
          <a:solidFill>
            <a:srgbClr val="9D5D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6748272" y="1700784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2000" b="1">
                <a:solidFill>
                  <a:srgbClr val="211B1D"/>
                </a:solidFill>
                <a:latin typeface="Inter"/>
              </a:rPr>
              <a:t>1. Capisce il valore</a:t>
            </a:r>
            <a:endParaRPr lang="it-IT" sz="2000"/>
          </a:p>
        </p:txBody>
      </p:sp>
      <p:sp>
        <p:nvSpPr>
          <p:cNvPr id="15" name="Text 15"/>
          <p:cNvSpPr txBox="1"/>
          <p:nvPr/>
        </p:nvSpPr>
        <p:spPr>
          <a:xfrm>
            <a:off x="6748272" y="223113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400">
                <a:solidFill>
                  <a:srgbClr val="6F6568"/>
                </a:solidFill>
                <a:latin typeface="Inter"/>
              </a:rPr>
              <a:t>Hero forte e CTA immediata.</a:t>
            </a:r>
            <a:endParaRPr lang="it-IT" sz="1400"/>
          </a:p>
        </p:txBody>
      </p:sp>
      <p:sp>
        <p:nvSpPr>
          <p:cNvPr id="17" name="Text 17"/>
          <p:cNvSpPr txBox="1"/>
          <p:nvPr/>
        </p:nvSpPr>
        <p:spPr>
          <a:xfrm>
            <a:off x="6748272" y="2944368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2000" b="1">
                <a:solidFill>
                  <a:srgbClr val="211B1D"/>
                </a:solidFill>
                <a:latin typeface="Inter"/>
              </a:rPr>
              <a:t>2. Si orienta</a:t>
            </a:r>
            <a:endParaRPr lang="it-IT" sz="2000"/>
          </a:p>
        </p:txBody>
      </p:sp>
      <p:sp>
        <p:nvSpPr>
          <p:cNvPr id="18" name="Text 18"/>
          <p:cNvSpPr txBox="1"/>
          <p:nvPr/>
        </p:nvSpPr>
        <p:spPr>
          <a:xfrm>
            <a:off x="6748272" y="347472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400">
                <a:solidFill>
                  <a:srgbClr val="6F6568"/>
                </a:solidFill>
                <a:latin typeface="Inter"/>
              </a:rPr>
              <a:t>Servizi, metodo e dettagli leggibili.</a:t>
            </a:r>
            <a:endParaRPr lang="it-IT" sz="1400"/>
          </a:p>
        </p:txBody>
      </p:sp>
      <p:sp>
        <p:nvSpPr>
          <p:cNvPr id="21" name="Text 21"/>
          <p:cNvSpPr txBox="1"/>
          <p:nvPr/>
        </p:nvSpPr>
        <p:spPr>
          <a:xfrm>
            <a:off x="6748272" y="4224528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2000" b="1">
                <a:solidFill>
                  <a:srgbClr val="211B1D"/>
                </a:solidFill>
                <a:latin typeface="Inter"/>
              </a:rPr>
              <a:t>3. Prenota</a:t>
            </a:r>
            <a:endParaRPr lang="it-IT" sz="2000"/>
          </a:p>
        </p:txBody>
      </p:sp>
      <p:sp>
        <p:nvSpPr>
          <p:cNvPr id="22" name="Text 22"/>
          <p:cNvSpPr txBox="1"/>
          <p:nvPr/>
        </p:nvSpPr>
        <p:spPr>
          <a:xfrm>
            <a:off x="6748272" y="475488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400">
                <a:solidFill>
                  <a:srgbClr val="6F6568"/>
                </a:solidFill>
                <a:latin typeface="Inter"/>
              </a:rPr>
              <a:t>Percorso diretto verso consulenza e data.</a:t>
            </a:r>
            <a:endParaRPr lang="it-IT" sz="1400"/>
          </a:p>
        </p:txBody>
      </p:sp>
    </p:spTree>
  </p:cSld>
  <p:clrMapOvr>
    <a:masterClrMapping/>
  </p:clrMapOvr>
  <p:transition spd="med" advClick="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12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24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5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5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/>
      <p:bldP spid="4" grpId="0"/>
      <p:bldP spid="13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66928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4200" b="1">
                <a:solidFill>
                  <a:srgbClr val="211B1D"/>
                </a:solidFill>
                <a:latin typeface="Playfair Display"/>
              </a:rPr>
              <a:t>La navigazione non disperde.</a:t>
            </a:r>
            <a:endParaRPr lang="it-IT" sz="4200"/>
          </a:p>
        </p:txBody>
      </p:sp>
      <p:sp>
        <p:nvSpPr>
          <p:cNvPr id="3" name="Text 3"/>
          <p:cNvSpPr txBox="1"/>
          <p:nvPr/>
        </p:nvSpPr>
        <p:spPr>
          <a:xfrm>
            <a:off x="713232" y="1389888"/>
            <a:ext cx="64922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800">
                <a:solidFill>
                  <a:srgbClr val="6F6568"/>
                </a:solidFill>
                <a:latin typeface="Inter"/>
              </a:rPr>
              <a:t>Ogni pagina ha un ruolo preciso. Questo fa sembrare il brand più solido e il percorso più semplice.</a:t>
            </a:r>
            <a:endParaRPr lang="it-IT" sz="1800"/>
          </a:p>
        </p:txBody>
      </p:sp>
      <p:sp>
        <p:nvSpPr>
          <p:cNvPr id="5" name="Round 5"/>
          <p:cNvSpPr/>
          <p:nvPr/>
        </p:nvSpPr>
        <p:spPr>
          <a:xfrm>
            <a:off x="868680" y="2788920"/>
            <a:ext cx="1325880" cy="402336"/>
          </a:xfrm>
          <a:prstGeom prst="roundRect">
            <a:avLst/>
          </a:prstGeom>
          <a:solidFill>
            <a:srgbClr val="211B1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868680" y="287578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000" b="1">
                <a:solidFill>
                  <a:srgbClr val="FFFFFF"/>
                </a:solidFill>
                <a:latin typeface="Inter"/>
              </a:rPr>
              <a:t>HOME</a:t>
            </a:r>
            <a:endParaRPr lang="it-IT" sz="1000"/>
          </a:p>
        </p:txBody>
      </p:sp>
      <p:sp>
        <p:nvSpPr>
          <p:cNvPr id="8" name="Round 8"/>
          <p:cNvSpPr/>
          <p:nvPr/>
        </p:nvSpPr>
        <p:spPr>
          <a:xfrm>
            <a:off x="2468880" y="2788920"/>
            <a:ext cx="1508760" cy="402336"/>
          </a:xfrm>
          <a:prstGeom prst="roundRect">
            <a:avLst/>
          </a:prstGeom>
          <a:solidFill>
            <a:srgbClr val="9D5D6E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2468880" y="2875788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000" b="1">
                <a:solidFill>
                  <a:srgbClr val="FFFFFF"/>
                </a:solidFill>
                <a:latin typeface="Inter"/>
              </a:rPr>
              <a:t>SERVIZI</a:t>
            </a:r>
            <a:endParaRPr lang="it-IT" sz="1000"/>
          </a:p>
        </p:txBody>
      </p:sp>
      <p:sp>
        <p:nvSpPr>
          <p:cNvPr id="11" name="Round 11"/>
          <p:cNvSpPr/>
          <p:nvPr/>
        </p:nvSpPr>
        <p:spPr>
          <a:xfrm>
            <a:off x="4315968" y="2788920"/>
            <a:ext cx="1600200" cy="402336"/>
          </a:xfrm>
          <a:prstGeom prst="roundRect">
            <a:avLst/>
          </a:prstGeom>
          <a:solidFill>
            <a:srgbClr val="B27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315968" y="28757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000" b="1">
                <a:solidFill>
                  <a:srgbClr val="FFFFFF"/>
                </a:solidFill>
                <a:latin typeface="Inter"/>
              </a:rPr>
              <a:t>PORTFOLIO</a:t>
            </a:r>
            <a:endParaRPr lang="it-IT" sz="1000"/>
          </a:p>
        </p:txBody>
      </p:sp>
      <p:sp>
        <p:nvSpPr>
          <p:cNvPr id="14" name="Round 14"/>
          <p:cNvSpPr/>
          <p:nvPr/>
        </p:nvSpPr>
        <p:spPr>
          <a:xfrm>
            <a:off x="6263640" y="2788920"/>
            <a:ext cx="1600200" cy="402336"/>
          </a:xfrm>
          <a:prstGeom prst="roundRect">
            <a:avLst/>
          </a:prstGeom>
          <a:solidFill>
            <a:srgbClr val="7F8B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263640" y="28757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000" b="1">
                <a:solidFill>
                  <a:srgbClr val="FFFFFF"/>
                </a:solidFill>
                <a:latin typeface="Inter"/>
              </a:rPr>
              <a:t>CHI SONO</a:t>
            </a:r>
            <a:endParaRPr lang="it-IT" sz="1000"/>
          </a:p>
        </p:txBody>
      </p:sp>
      <p:sp>
        <p:nvSpPr>
          <p:cNvPr id="17" name="Round 17"/>
          <p:cNvSpPr/>
          <p:nvPr/>
        </p:nvSpPr>
        <p:spPr>
          <a:xfrm>
            <a:off x="8229600" y="2788920"/>
            <a:ext cx="1600200" cy="402336"/>
          </a:xfrm>
          <a:prstGeom prst="roundRect">
            <a:avLst/>
          </a:prstGeom>
          <a:solidFill>
            <a:srgbClr val="00844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229600" y="28757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000" b="1">
                <a:solidFill>
                  <a:srgbClr val="FFFFFF"/>
                </a:solidFill>
                <a:latin typeface="Inter"/>
              </a:rPr>
              <a:t>CONTATTI</a:t>
            </a:r>
            <a:endParaRPr lang="it-IT" sz="1000"/>
          </a:p>
        </p:txBody>
      </p:sp>
      <p:sp>
        <p:nvSpPr>
          <p:cNvPr id="20" name="Line 20"/>
          <p:cNvSpPr/>
          <p:nvPr/>
        </p:nvSpPr>
        <p:spPr>
          <a:xfrm>
            <a:off x="1188720" y="3749039"/>
            <a:ext cx="8046720" cy="0"/>
          </a:xfrm>
          <a:prstGeom prst="line">
            <a:avLst/>
          </a:prstGeom>
          <a:ln w="25400">
            <a:solidFill>
              <a:srgbClr val="F1E4DF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14400" y="4315968"/>
            <a:ext cx="95097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2800" b="1">
                <a:solidFill>
                  <a:srgbClr val="211B1D"/>
                </a:solidFill>
                <a:latin typeface="Playfair Display"/>
              </a:rPr>
              <a:t>Dal desiderio alla decisione: il sito accompagna senza rumore.</a:t>
            </a:r>
            <a:endParaRPr lang="it-IT" sz="280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12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24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5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5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>
                      <p:stCondLst>
                        <p:cond delay="48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45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/>
      <p:bldP spid="5" grpId="0"/>
      <p:bldP spid="8" grpId="0"/>
      <p:bldP spid="11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66928"/>
            <a:ext cx="704088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4000" b="1">
                <a:solidFill>
                  <a:srgbClr val="211B1D"/>
                </a:solidFill>
                <a:latin typeface="Playfair Display"/>
              </a:rPr>
              <a:t>Mobile: dove la cliente decide davvero</a:t>
            </a:r>
            <a:endParaRPr lang="it-IT" sz="4000"/>
          </a:p>
        </p:txBody>
      </p:sp>
      <p:sp>
        <p:nvSpPr>
          <p:cNvPr id="4" name="Round 4"/>
          <p:cNvSpPr/>
          <p:nvPr/>
        </p:nvSpPr>
        <p:spPr>
          <a:xfrm>
            <a:off x="914400" y="1645920"/>
            <a:ext cx="2743200" cy="4709160"/>
          </a:xfrm>
          <a:prstGeom prst="roundRect">
            <a:avLst/>
          </a:prstGeom>
          <a:solidFill>
            <a:srgbClr val="211B1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1124712" y="1901952"/>
            <a:ext cx="2322576" cy="4187952"/>
          </a:xfrm>
          <a:prstGeom prst="rect">
            <a:avLst/>
          </a:prstGeom>
          <a:solidFill>
            <a:srgbClr val="FFFA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1325880" y="224028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2400" b="1">
                <a:solidFill>
                  <a:srgbClr val="211B1D"/>
                </a:solidFill>
                <a:latin typeface="Playfair Display"/>
              </a:rPr>
              <a:t>Makeup elegante</a:t>
            </a:r>
            <a:endParaRPr lang="it-IT" sz="2400"/>
          </a:p>
        </p:txBody>
      </p:sp>
      <p:sp>
        <p:nvSpPr>
          <p:cNvPr id="8" name="Round 8"/>
          <p:cNvSpPr/>
          <p:nvPr/>
        </p:nvSpPr>
        <p:spPr>
          <a:xfrm>
            <a:off x="1417320" y="5230368"/>
            <a:ext cx="1737360" cy="402336"/>
          </a:xfrm>
          <a:prstGeom prst="roundRect">
            <a:avLst/>
          </a:prstGeom>
          <a:solidFill>
            <a:srgbClr val="211B1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417320" y="531723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000" b="1">
                <a:solidFill>
                  <a:srgbClr val="FFFFFF"/>
                </a:solidFill>
                <a:latin typeface="Inter"/>
              </a:rPr>
              <a:t>PRENOTA</a:t>
            </a:r>
            <a:endParaRPr lang="it-IT" sz="1000"/>
          </a:p>
        </p:txBody>
      </p:sp>
      <p:sp>
        <p:nvSpPr>
          <p:cNvPr id="10" name="Text 10"/>
          <p:cNvSpPr txBox="1"/>
          <p:nvPr/>
        </p:nvSpPr>
        <p:spPr>
          <a:xfrm>
            <a:off x="4572000" y="1993392"/>
            <a:ext cx="5394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2400" b="1">
                <a:solidFill>
                  <a:srgbClr val="211B1D"/>
                </a:solidFill>
                <a:latin typeface="Inter"/>
              </a:rPr>
              <a:t>Menu pulito</a:t>
            </a:r>
            <a:endParaRPr lang="it-IT" sz="2400"/>
          </a:p>
        </p:txBody>
      </p:sp>
      <p:sp>
        <p:nvSpPr>
          <p:cNvPr id="11" name="Text 11"/>
          <p:cNvSpPr txBox="1"/>
          <p:nvPr/>
        </p:nvSpPr>
        <p:spPr>
          <a:xfrm>
            <a:off x="4572000" y="2542032"/>
            <a:ext cx="53949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600">
                <a:solidFill>
                  <a:srgbClr val="6F6568"/>
                </a:solidFill>
                <a:latin typeface="Inter"/>
              </a:rPr>
              <a:t>Su schermi piccoli il sito resta ordinato e leggibile.</a:t>
            </a:r>
            <a:endParaRPr lang="it-IT" sz="1600"/>
          </a:p>
        </p:txBody>
      </p:sp>
      <p:sp>
        <p:nvSpPr>
          <p:cNvPr id="14" name="Text 14"/>
          <p:cNvSpPr txBox="1"/>
          <p:nvPr/>
        </p:nvSpPr>
        <p:spPr>
          <a:xfrm>
            <a:off x="4572000" y="3493008"/>
            <a:ext cx="5394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2400" b="1">
                <a:solidFill>
                  <a:srgbClr val="211B1D"/>
                </a:solidFill>
                <a:latin typeface="Inter"/>
              </a:rPr>
              <a:t>CTA comode</a:t>
            </a:r>
            <a:endParaRPr lang="it-IT" sz="2400"/>
          </a:p>
        </p:txBody>
      </p:sp>
      <p:sp>
        <p:nvSpPr>
          <p:cNvPr id="15" name="Text 15"/>
          <p:cNvSpPr txBox="1"/>
          <p:nvPr/>
        </p:nvSpPr>
        <p:spPr>
          <a:xfrm>
            <a:off x="4572000" y="4041648"/>
            <a:ext cx="53949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600">
                <a:solidFill>
                  <a:srgbClr val="6F6568"/>
                </a:solidFill>
                <a:latin typeface="Inter"/>
              </a:rPr>
              <a:t>I pulsanti principali diventano facili da usare e da trovare.</a:t>
            </a:r>
            <a:endParaRPr lang="it-IT" sz="1600"/>
          </a:p>
        </p:txBody>
      </p:sp>
      <p:sp>
        <p:nvSpPr>
          <p:cNvPr id="18" name="Text 18"/>
          <p:cNvSpPr txBox="1"/>
          <p:nvPr/>
        </p:nvSpPr>
        <p:spPr>
          <a:xfrm>
            <a:off x="4572000" y="5010912"/>
            <a:ext cx="5394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2400" b="1">
                <a:solidFill>
                  <a:srgbClr val="211B1D"/>
                </a:solidFill>
                <a:latin typeface="Inter"/>
              </a:rPr>
              <a:t>Zero attrito</a:t>
            </a:r>
            <a:endParaRPr lang="it-IT" sz="2400"/>
          </a:p>
        </p:txBody>
      </p:sp>
      <p:sp>
        <p:nvSpPr>
          <p:cNvPr id="19" name="Text 19"/>
          <p:cNvSpPr txBox="1"/>
          <p:nvPr/>
        </p:nvSpPr>
        <p:spPr>
          <a:xfrm>
            <a:off x="4572000" y="5559552"/>
            <a:ext cx="53949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600">
                <a:solidFill>
                  <a:srgbClr val="6F6568"/>
                </a:solidFill>
                <a:latin typeface="Inter"/>
              </a:rPr>
              <a:t>Meno passaggi, più possibilità che la richiesta arrivi.</a:t>
            </a:r>
            <a:endParaRPr lang="it-IT" sz="160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12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24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5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5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/>
      <p:bldP spid="6" grpId="0"/>
      <p:bldP spid="10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E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logo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8412480" y="749808"/>
            <a:ext cx="2286000" cy="22860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685800" y="64008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4000" b="1">
                <a:solidFill>
                  <a:srgbClr val="211B1D"/>
                </a:solidFill>
                <a:latin typeface="Playfair Display"/>
              </a:rPr>
              <a:t>Cosa riceve il cliente</a:t>
            </a:r>
            <a:endParaRPr lang="it-IT" sz="4000"/>
          </a:p>
        </p:txBody>
      </p:sp>
      <p:sp>
        <p:nvSpPr>
          <p:cNvPr id="5" name="Shape 5"/>
          <p:cNvSpPr/>
          <p:nvPr/>
        </p:nvSpPr>
        <p:spPr>
          <a:xfrm>
            <a:off x="749808" y="2057400"/>
            <a:ext cx="3154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4DF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1005840" y="235915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2300" b="1">
                <a:solidFill>
                  <a:srgbClr val="211B1D"/>
                </a:solidFill>
                <a:latin typeface="Playfair Display"/>
              </a:rPr>
              <a:t>Sito completo</a:t>
            </a:r>
            <a:endParaRPr lang="it-IT" sz="2300"/>
          </a:p>
        </p:txBody>
      </p:sp>
      <p:sp>
        <p:nvSpPr>
          <p:cNvPr id="7" name="Text 7"/>
          <p:cNvSpPr txBox="1"/>
          <p:nvPr/>
        </p:nvSpPr>
        <p:spPr>
          <a:xfrm>
            <a:off x="1005840" y="2944368"/>
            <a:ext cx="2487168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400">
                <a:solidFill>
                  <a:srgbClr val="6F6568"/>
                </a:solidFill>
                <a:latin typeface="Inter"/>
              </a:rPr>
              <a:t>Homepage, servizi, portfolio, bio, contatti, prenotazione e pagine legal.</a:t>
            </a:r>
            <a:endParaRPr lang="it-IT" sz="1400"/>
          </a:p>
        </p:txBody>
      </p:sp>
      <p:sp>
        <p:nvSpPr>
          <p:cNvPr id="9" name="Shape 9"/>
          <p:cNvSpPr/>
          <p:nvPr/>
        </p:nvSpPr>
        <p:spPr>
          <a:xfrm>
            <a:off x="4480560" y="2057400"/>
            <a:ext cx="3154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4DF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736592" y="235915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2300" b="1">
                <a:solidFill>
                  <a:srgbClr val="211B1D"/>
                </a:solidFill>
                <a:latin typeface="Playfair Display"/>
              </a:rPr>
              <a:t>Identità coerente</a:t>
            </a:r>
            <a:endParaRPr lang="it-IT" sz="2300"/>
          </a:p>
        </p:txBody>
      </p:sp>
      <p:sp>
        <p:nvSpPr>
          <p:cNvPr id="11" name="Text 11"/>
          <p:cNvSpPr txBox="1"/>
          <p:nvPr/>
        </p:nvSpPr>
        <p:spPr>
          <a:xfrm>
            <a:off x="4736592" y="2944368"/>
            <a:ext cx="2487168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400">
                <a:solidFill>
                  <a:srgbClr val="6F6568"/>
                </a:solidFill>
                <a:latin typeface="Inter"/>
              </a:rPr>
              <a:t>Colori, font, foto e tono allineati al posizionamento beauty.</a:t>
            </a:r>
            <a:endParaRPr lang="it-IT" sz="1400"/>
          </a:p>
        </p:txBody>
      </p:sp>
      <p:sp>
        <p:nvSpPr>
          <p:cNvPr id="13" name="Shape 13"/>
          <p:cNvSpPr/>
          <p:nvPr/>
        </p:nvSpPr>
        <p:spPr>
          <a:xfrm>
            <a:off x="8211312" y="2057400"/>
            <a:ext cx="3154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4DF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8467344" y="235915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2300" b="1">
                <a:solidFill>
                  <a:srgbClr val="211B1D"/>
                </a:solidFill>
                <a:latin typeface="Playfair Display"/>
              </a:rPr>
              <a:t>Pronto al lancio</a:t>
            </a:r>
            <a:endParaRPr lang="it-IT" sz="2300"/>
          </a:p>
        </p:txBody>
      </p:sp>
      <p:sp>
        <p:nvSpPr>
          <p:cNvPr id="15" name="Text 15"/>
          <p:cNvSpPr txBox="1"/>
          <p:nvPr/>
        </p:nvSpPr>
        <p:spPr>
          <a:xfrm>
            <a:off x="8467344" y="2944368"/>
            <a:ext cx="2487168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400">
                <a:solidFill>
                  <a:srgbClr val="6F6568"/>
                </a:solidFill>
                <a:latin typeface="Inter"/>
              </a:rPr>
              <a:t>Struttura leggera, SEO base e predisposizione per pubblicazione.</a:t>
            </a:r>
            <a:endParaRPr lang="it-IT" sz="1400"/>
          </a:p>
        </p:txBody>
      </p:sp>
    </p:spTree>
  </p:cSld>
  <p:clrMapOvr>
    <a:masterClrMapping/>
  </p:clrMapOvr>
  <p:transition spd="med" advClick="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12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24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5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5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/>
      <p:bldP spid="5" grpId="0"/>
      <p:bldP spid="9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_1.jp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B1D">
              <a:alpha val="5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6384" y="987552"/>
            <a:ext cx="649224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4400" b="1">
                <a:solidFill>
                  <a:srgbClr val="FFFFFF"/>
                </a:solidFill>
                <a:latin typeface="Playfair Display"/>
              </a:rPr>
              <a:t>La parte bella? Ora sembra già un brand.</a:t>
            </a:r>
            <a:endParaRPr lang="it-IT" sz="4400"/>
          </a:p>
        </p:txBody>
      </p:sp>
      <p:sp>
        <p:nvSpPr>
          <p:cNvPr id="6" name="Text 6"/>
          <p:cNvSpPr txBox="1"/>
          <p:nvPr/>
        </p:nvSpPr>
        <p:spPr>
          <a:xfrm>
            <a:off x="822960" y="2514600"/>
            <a:ext cx="5852160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900">
                <a:solidFill>
                  <a:srgbClr val="F3E6E2"/>
                </a:solidFill>
                <a:latin typeface="Inter"/>
              </a:rPr>
              <a:t>Non solo una presenza online: una cornice credibile per ricevere richieste migliori.</a:t>
            </a:r>
            <a:endParaRPr lang="it-IT" sz="1900"/>
          </a:p>
        </p:txBody>
      </p:sp>
      <p:sp>
        <p:nvSpPr>
          <p:cNvPr id="8" name="Round 8"/>
          <p:cNvSpPr/>
          <p:nvPr/>
        </p:nvSpPr>
        <p:spPr>
          <a:xfrm>
            <a:off x="841248" y="3886200"/>
            <a:ext cx="2011680" cy="402336"/>
          </a:xfrm>
          <a:prstGeom prst="roundRect">
            <a:avLst/>
          </a:prstGeom>
          <a:solidFill>
            <a:srgbClr val="00844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841248" y="39730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it-IT" sz="1000" b="1">
                <a:solidFill>
                  <a:srgbClr val="FFFFFF"/>
                </a:solidFill>
                <a:latin typeface="Inter"/>
              </a:rPr>
              <a:t>READY TO LAUNCH</a:t>
            </a:r>
            <a:endParaRPr lang="it-IT" sz="1000"/>
          </a:p>
        </p:txBody>
      </p:sp>
      <p:sp>
        <p:nvSpPr>
          <p:cNvPr id="10" name="Text 10"/>
          <p:cNvSpPr txBox="1"/>
          <p:nvPr/>
        </p:nvSpPr>
        <p:spPr>
          <a:xfrm>
            <a:off x="841248" y="594360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it-IT" sz="1100">
                <a:solidFill>
                  <a:srgbClr val="E6D6D1"/>
                </a:solidFill>
                <a:latin typeface="Inter"/>
              </a:rPr>
              <a:t>AGATA BEAUTY - WEBSITE PRESENTATION</a:t>
            </a:r>
            <a:endParaRPr lang="it-IT" sz="110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5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12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>
                      <p:stCondLst>
                        <p:cond delay="24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5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5" grpId="0"/>
      <p:bldP spid="8" grpId="0"/>
    </p:bldLst>
  </p:timing>
</p:sld>
</file>

<file path=ppt/theme/theme1.xml><?xml version="1.0" encoding="utf-8"?>
<a:theme xmlns:a="http://schemas.openxmlformats.org/drawingml/2006/main" name="Agata Beauty Premium">
  <a:themeElements>
    <a:clrScheme name="Agata">
      <a:dk1>
        <a:srgbClr val="211B1D"/>
      </a:dk1>
      <a:lt1>
        <a:srgbClr val="FFFAF7"/>
      </a:lt1>
      <a:dk2>
        <a:srgbClr val="6F6568"/>
      </a:dk2>
      <a:lt2>
        <a:srgbClr val="F8F1EE"/>
      </a:lt2>
      <a:accent1>
        <a:srgbClr val="C8899A"/>
      </a:accent1>
      <a:accent2>
        <a:srgbClr val="9D5D6E"/>
      </a:accent2>
      <a:accent3>
        <a:srgbClr val="B27761"/>
      </a:accent3>
      <a:accent4>
        <a:srgbClr val="7F8B76"/>
      </a:accent4>
      <a:accent5>
        <a:srgbClr val="008448"/>
      </a:accent5>
      <a:accent6>
        <a:srgbClr val="F1E4DF"/>
      </a:accent6>
      <a:hlink>
        <a:srgbClr val="9D5D6E"/>
      </a:hlink>
      <a:folHlink>
        <a:srgbClr val="B27761"/>
      </a:folHlink>
    </a:clrScheme>
    <a:fontScheme name="Agata">
      <a:majorFont>
        <a:latin typeface="Playfair Display"/>
      </a:majorFont>
      <a:minorFont>
        <a:latin typeface="Inter"/>
      </a:minorFont>
    </a:fontScheme>
    <a:fmtScheme name="Agata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Agata Beauty - Presentazione cliente</dc:title>
  <dc:creator>Codex</dc:creator>
  <cp:lastModifiedBy>Codex</cp:lastModifiedBy>
  <dcterms:created xsi:type="dcterms:W3CDTF">2026-05-20T08:37:05+00:00</dcterms:created>
  <dcterms:modified xsi:type="dcterms:W3CDTF">2026-05-20T08:37:05+00:00</dcterms:modified>
</cp:coreProperties>
</file>